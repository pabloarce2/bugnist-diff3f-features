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EECE59-46F3-4C0F-8DCE-CC8DA6D4589B}" type="datetimeFigureOut">
              <a:rPr lang="es-ES" smtClean="0"/>
              <a:t>24/08/2026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2DF9C8-D76D-4B37-A6DB-A0FA7E98F42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691496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2DF9C8-D76D-4B37-A6DB-A0FA7E98F423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328123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7"/>
          </a:solidFill>
          <a:ln w="12700">
            <a:solidFill>
              <a:srgbClr val="F8F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566928"/>
            <a:ext cx="164592" cy="5440680"/>
          </a:xfrm>
          <a:prstGeom prst="rect">
            <a:avLst/>
          </a:prstGeom>
          <a:solidFill>
            <a:srgbClr val="1F7676"/>
          </a:solidFill>
          <a:ln w="12700">
            <a:solidFill>
              <a:srgbClr val="1F7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87552" y="960120"/>
            <a:ext cx="9966960" cy="77724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/>
            <a:r>
              <a:rPr sz="3600" b="1" i="0">
                <a:solidFill>
                  <a:srgbClr val="1F242A"/>
                </a:solidFill>
                <a:latin typeface="Aptos"/>
              </a:rPr>
              <a:t>How Diff3F `.pt` Files Are Filled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8961120" cy="41148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/>
            <a:r>
              <a:rPr sz="2000" b="0" i="0">
                <a:solidFill>
                  <a:srgbClr val="5B636C"/>
                </a:solidFill>
                <a:latin typeface="Aptos"/>
              </a:rPr>
              <a:t>From rendered views to one N x 2048 descriptor 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2743200"/>
            <a:ext cx="3657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600200" y="2743200"/>
            <a:ext cx="9144" cy="1554480"/>
          </a:xfrm>
          <a:prstGeom prst="rect">
            <a:avLst/>
          </a:prstGeom>
          <a:solidFill>
            <a:srgbClr val="D6DBDF"/>
          </a:solidFill>
          <a:ln w="12700">
            <a:solidFill>
              <a:srgbClr val="D6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194560" y="2743200"/>
            <a:ext cx="9144" cy="1554480"/>
          </a:xfrm>
          <a:prstGeom prst="rect">
            <a:avLst/>
          </a:prstGeom>
          <a:solidFill>
            <a:srgbClr val="D6DBDF"/>
          </a:solidFill>
          <a:ln w="12700">
            <a:solidFill>
              <a:srgbClr val="D6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88920" y="2743200"/>
            <a:ext cx="9144" cy="1554480"/>
          </a:xfrm>
          <a:prstGeom prst="rect">
            <a:avLst/>
          </a:prstGeom>
          <a:solidFill>
            <a:srgbClr val="D6DBDF"/>
          </a:solidFill>
          <a:ln w="12700">
            <a:solidFill>
              <a:srgbClr val="D6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383280" y="2743200"/>
            <a:ext cx="9144" cy="1554480"/>
          </a:xfrm>
          <a:prstGeom prst="rect">
            <a:avLst/>
          </a:prstGeom>
          <a:solidFill>
            <a:srgbClr val="D6DBDF"/>
          </a:solidFill>
          <a:ln w="12700">
            <a:solidFill>
              <a:srgbClr val="D6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05840" y="3127248"/>
            <a:ext cx="3657600" cy="9144"/>
          </a:xfrm>
          <a:prstGeom prst="rect">
            <a:avLst/>
          </a:prstGeom>
          <a:solidFill>
            <a:srgbClr val="D6DBDF"/>
          </a:solidFill>
          <a:ln w="12700">
            <a:solidFill>
              <a:srgbClr val="D6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05840" y="3511296"/>
            <a:ext cx="3657600" cy="9144"/>
          </a:xfrm>
          <a:prstGeom prst="rect">
            <a:avLst/>
          </a:prstGeom>
          <a:solidFill>
            <a:srgbClr val="D6DBDF"/>
          </a:solidFill>
          <a:ln w="12700">
            <a:solidFill>
              <a:srgbClr val="D6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05840" y="3895344"/>
            <a:ext cx="3657600" cy="9144"/>
          </a:xfrm>
          <a:prstGeom prst="rect">
            <a:avLst/>
          </a:prstGeom>
          <a:solidFill>
            <a:srgbClr val="D6DBDF"/>
          </a:solidFill>
          <a:ln w="12700">
            <a:solidFill>
              <a:srgbClr val="D6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24712" y="4453128"/>
            <a:ext cx="1005840" cy="22860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1F7676"/>
                </a:solidFill>
                <a:latin typeface="Aptos"/>
              </a:rPr>
              <a:t>N rows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79776" y="4453128"/>
            <a:ext cx="1417320" cy="22860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3A5B9B"/>
                </a:solidFill>
                <a:latin typeface="Aptos"/>
              </a:rPr>
              <a:t>2048 columns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892040" y="3520440"/>
            <a:ext cx="1005840" cy="0"/>
          </a:xfrm>
          <a:prstGeom prst="line">
            <a:avLst/>
          </a:prstGeom>
          <a:ln w="28575">
            <a:solidFill>
              <a:srgbClr val="1F7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080760" y="2971800"/>
            <a:ext cx="1965960" cy="1097280"/>
          </a:xfrm>
          <a:prstGeom prst="rect">
            <a:avLst/>
          </a:prstGeom>
          <a:solidFill>
            <a:srgbClr val="DEF1EF"/>
          </a:solidFill>
          <a:ln w="12700">
            <a:solidFill>
              <a:srgbClr val="1F7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800" b="1">
                <a:solidFill>
                  <a:srgbClr val="1F242A"/>
                </a:solidFill>
                <a:latin typeface="Aptos"/>
              </a:rPr>
              <a:t>final `.pt`
feature tensor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897880"/>
            <a:ext cx="9601200" cy="32004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/>
            <a:r>
              <a:rPr sz="1200" b="0" i="0">
                <a:solidFill>
                  <a:srgbClr val="5B636C"/>
                </a:solidFill>
                <a:latin typeface="Aptos"/>
              </a:rPr>
              <a:t>Guide deck generated from `HOW_DIFF3F_PT_FILES_ARE_FILLED.md`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1064240" cy="50292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1F242A"/>
                </a:solidFill>
                <a:latin typeface="Aptos"/>
              </a:rPr>
              <a:t>1. The Core Idea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0972800" cy="22860"/>
          </a:xfrm>
          <a:prstGeom prst="rect">
            <a:avLst/>
          </a:prstGeom>
          <a:solidFill>
            <a:srgbClr val="D6D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1417320"/>
            <a:ext cx="5021727" cy="77559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400" b="1" i="0" dirty="0">
                <a:solidFill>
                  <a:srgbClr val="1F242A"/>
                </a:solidFill>
                <a:latin typeface="Aptos"/>
              </a:rPr>
              <a:t>The output size is known before processing starts.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302645"/>
            <a:ext cx="4754880" cy="19659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8000"/>
              </a:lnSpc>
              <a:defRPr sz="2000">
                <a:solidFill>
                  <a:srgbClr val="1F242A"/>
                </a:solidFill>
                <a:latin typeface="Aptos"/>
              </a:defRPr>
            </a:pPr>
            <a:r>
              <a:rPr dirty="0"/>
              <a:t>Mesh: one row per vertex.</a:t>
            </a:r>
          </a:p>
          <a:p>
            <a:pPr>
              <a:lnSpc>
                <a:spcPct val="108000"/>
              </a:lnSpc>
              <a:defRPr sz="2000">
                <a:solidFill>
                  <a:srgbClr val="1F242A"/>
                </a:solidFill>
                <a:latin typeface="Aptos"/>
              </a:defRPr>
            </a:pPr>
            <a:r>
              <a:rPr dirty="0"/>
              <a:t>Point cloud: one row per point.</a:t>
            </a:r>
          </a:p>
          <a:p>
            <a:pPr>
              <a:lnSpc>
                <a:spcPct val="108000"/>
              </a:lnSpc>
              <a:defRPr sz="2000">
                <a:solidFill>
                  <a:srgbClr val="1F242A"/>
                </a:solidFill>
                <a:latin typeface="Aptos"/>
              </a:defRPr>
            </a:pPr>
            <a:r>
              <a:rPr dirty="0"/>
              <a:t>Every row has 2048 learned descriptor values.</a:t>
            </a:r>
          </a:p>
          <a:p>
            <a:pPr>
              <a:lnSpc>
                <a:spcPct val="108000"/>
              </a:lnSpc>
              <a:defRPr sz="2000">
                <a:solidFill>
                  <a:srgbClr val="1F242A"/>
                </a:solidFill>
                <a:latin typeface="Aptos"/>
              </a:defRPr>
            </a:pPr>
            <a:r>
              <a:rPr dirty="0"/>
              <a:t>Row </a:t>
            </a:r>
            <a:r>
              <a:rPr dirty="0" err="1"/>
              <a:t>i</a:t>
            </a:r>
            <a:r>
              <a:rPr dirty="0"/>
              <a:t> must stay aligned with geometry element </a:t>
            </a:r>
            <a:r>
              <a:rPr dirty="0" err="1"/>
              <a:t>i</a:t>
            </a:r>
            <a:r>
              <a:rPr dirty="0"/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37960" y="1417320"/>
            <a:ext cx="4160520" cy="502920"/>
          </a:xfrm>
          <a:prstGeom prst="rect">
            <a:avLst/>
          </a:prstGeom>
          <a:solidFill>
            <a:srgbClr val="E1EAF9"/>
          </a:solidFill>
          <a:ln w="12700">
            <a:solidFill>
              <a:srgbClr val="3A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2200" b="1">
                <a:solidFill>
                  <a:srgbClr val="1F242A"/>
                </a:solidFill>
                <a:latin typeface="Aptos"/>
              </a:rPr>
              <a:t>features.shape = [N, 2048]</a:t>
            </a:r>
          </a:p>
        </p:txBody>
      </p:sp>
      <p:sp>
        <p:nvSpPr>
          <p:cNvPr id="7" name="Rectangle 6"/>
          <p:cNvSpPr/>
          <p:nvPr/>
        </p:nvSpPr>
        <p:spPr>
          <a:xfrm>
            <a:off x="6537960" y="2240280"/>
            <a:ext cx="416052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37960" y="2240280"/>
            <a:ext cx="731520" cy="384048"/>
          </a:xfrm>
          <a:prstGeom prst="rect">
            <a:avLst/>
          </a:prstGeom>
          <a:solidFill>
            <a:srgbClr val="DEF1EF"/>
          </a:solidFill>
          <a:ln w="12700">
            <a:solidFill>
              <a:srgbClr val="1F7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200" b="1">
                <a:solidFill>
                  <a:srgbClr val="1F242A"/>
                </a:solidFill>
                <a:latin typeface="Aptos"/>
              </a:rPr>
              <a:t>row</a:t>
            </a:r>
          </a:p>
        </p:txBody>
      </p:sp>
      <p:sp>
        <p:nvSpPr>
          <p:cNvPr id="9" name="Rectangle 8"/>
          <p:cNvSpPr/>
          <p:nvPr/>
        </p:nvSpPr>
        <p:spPr>
          <a:xfrm>
            <a:off x="7269480" y="2240280"/>
            <a:ext cx="1417320" cy="384048"/>
          </a:xfrm>
          <a:prstGeom prst="rect">
            <a:avLst/>
          </a:prstGeom>
          <a:solidFill>
            <a:srgbClr val="DEF1EF"/>
          </a:solidFill>
          <a:ln w="12700">
            <a:solidFill>
              <a:srgbClr val="1F7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200" b="1">
                <a:solidFill>
                  <a:srgbClr val="1F242A"/>
                </a:solidFill>
                <a:latin typeface="Aptos"/>
              </a:rPr>
              <a:t>geometry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0" y="2240280"/>
            <a:ext cx="2011680" cy="384048"/>
          </a:xfrm>
          <a:prstGeom prst="rect">
            <a:avLst/>
          </a:prstGeom>
          <a:solidFill>
            <a:srgbClr val="DEF1EF"/>
          </a:solidFill>
          <a:ln w="12700">
            <a:solidFill>
              <a:srgbClr val="1F7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200" b="1">
                <a:solidFill>
                  <a:srgbClr val="1F242A"/>
                </a:solidFill>
                <a:latin typeface="Aptos"/>
              </a:rPr>
              <a:t>descriptor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37960" y="2624328"/>
            <a:ext cx="731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200" b="0">
                <a:solidFill>
                  <a:srgbClr val="1F242A"/>
                </a:solidFill>
                <a:latin typeface="Aptos"/>
              </a:rP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69480" y="2624328"/>
            <a:ext cx="1417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200" b="0">
                <a:solidFill>
                  <a:srgbClr val="1F242A"/>
                </a:solidFill>
                <a:latin typeface="Aptos"/>
              </a:rPr>
              <a:t>vertex 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0" y="2624328"/>
            <a:ext cx="2011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200" b="0">
                <a:solidFill>
                  <a:srgbClr val="1F242A"/>
                </a:solidFill>
                <a:latin typeface="Aptos"/>
              </a:rPr>
              <a:t>2048 nums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37960" y="3063240"/>
            <a:ext cx="731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200" b="0">
                <a:solidFill>
                  <a:srgbClr val="1F242A"/>
                </a:solidFill>
                <a:latin typeface="Aptos"/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69480" y="3063240"/>
            <a:ext cx="1417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200" b="0">
                <a:solidFill>
                  <a:srgbClr val="1F242A"/>
                </a:solidFill>
                <a:latin typeface="Aptos"/>
              </a:rPr>
              <a:t>vertex 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3063240"/>
            <a:ext cx="2011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200" b="0">
                <a:solidFill>
                  <a:srgbClr val="1F242A"/>
                </a:solidFill>
                <a:latin typeface="Aptos"/>
              </a:rPr>
              <a:t>2048 nums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37960" y="3502152"/>
            <a:ext cx="731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200" b="0">
                <a:solidFill>
                  <a:srgbClr val="1F242A"/>
                </a:solidFill>
                <a:latin typeface="Aptos"/>
              </a:rPr>
              <a:t>...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69480" y="3502152"/>
            <a:ext cx="1417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200" b="0">
                <a:solidFill>
                  <a:srgbClr val="1F242A"/>
                </a:solidFill>
                <a:latin typeface="Aptos"/>
              </a:rPr>
              <a:t>...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0" y="3502152"/>
            <a:ext cx="2011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200" b="0">
                <a:solidFill>
                  <a:srgbClr val="1F242A"/>
                </a:solidFill>
                <a:latin typeface="Aptos"/>
              </a:rPr>
              <a:t>...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37960" y="3941064"/>
            <a:ext cx="731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200" b="0">
                <a:solidFill>
                  <a:srgbClr val="1F242A"/>
                </a:solidFill>
                <a:latin typeface="Aptos"/>
              </a:rPr>
              <a:t>N-1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69480" y="3941064"/>
            <a:ext cx="1417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200" b="0">
                <a:solidFill>
                  <a:srgbClr val="1F242A"/>
                </a:solidFill>
                <a:latin typeface="Aptos"/>
              </a:rPr>
              <a:t>vertex N-1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0" y="3941064"/>
            <a:ext cx="2011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200" b="0">
                <a:solidFill>
                  <a:srgbClr val="1F242A"/>
                </a:solidFill>
                <a:latin typeface="Aptos"/>
              </a:rPr>
              <a:t>2048 nums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144768"/>
            <a:ext cx="11018520" cy="438912"/>
          </a:xfrm>
          <a:prstGeom prst="rect">
            <a:avLst/>
          </a:prstGeom>
          <a:solidFill>
            <a:srgbClr val="EEF1F1"/>
          </a:solidFill>
          <a:ln>
            <a:solidFill>
              <a:srgbClr val="E1E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9808" y="6254496"/>
            <a:ext cx="10698480" cy="219456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/>
            <a:r>
              <a:rPr sz="1050" b="0" i="0">
                <a:solidFill>
                  <a:srgbClr val="5B636C"/>
                </a:solidFill>
                <a:latin typeface="Aptos"/>
              </a:rPr>
              <a:t>Speaker cue: Start with the contract: the `.pt` is a table attached row-by-row to one exact geometry file.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1064240" cy="50292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1F242A"/>
                </a:solidFill>
                <a:latin typeface="Aptos"/>
              </a:rPr>
              <a:t>2. Two Tensors Are Created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0972800" cy="22860"/>
          </a:xfrm>
          <a:prstGeom prst="rect">
            <a:avLst/>
          </a:prstGeom>
          <a:solidFill>
            <a:srgbClr val="D6D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1463040"/>
            <a:ext cx="5074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09728" bIns="73152" rtlCol="0" anchor="ctr"/>
          <a:lstStyle/>
          <a:p>
            <a:pPr algn="ctr"/>
            <a:r>
              <a:rPr sz="1700">
                <a:solidFill>
                  <a:srgbClr val="1F242A"/>
                </a:solidFill>
                <a:latin typeface="Consolas"/>
              </a:rPr>
              <a:t>ft_per_vertex = zeros([N, 2048])
ft_per_vertex_count = zeros([N, 1])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993392"/>
            <a:ext cx="640080" cy="0"/>
          </a:xfrm>
          <a:prstGeom prst="line">
            <a:avLst/>
          </a:prstGeom>
          <a:ln w="25400">
            <a:solidFill>
              <a:srgbClr val="1F7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903720" y="1261872"/>
            <a:ext cx="4206240" cy="1572768"/>
          </a:xfrm>
          <a:prstGeom prst="rect">
            <a:avLst/>
          </a:prstGeom>
          <a:solidFill>
            <a:srgbClr val="DEF1EF"/>
          </a:solidFill>
          <a:ln w="12700">
            <a:solidFill>
              <a:srgbClr val="1F7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800" b="1">
                <a:solidFill>
                  <a:srgbClr val="1F242A"/>
                </a:solidFill>
                <a:latin typeface="Aptos"/>
              </a:rPr>
              <a:t>Feature tensor stores SUMS
Count tensor stores HOW MANY
assignments each row received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154680"/>
            <a:ext cx="2423160" cy="1417320"/>
          </a:xfrm>
          <a:prstGeom prst="rect">
            <a:avLst/>
          </a:prstGeom>
          <a:solidFill>
            <a:srgbClr val="E1EAF9"/>
          </a:solidFill>
          <a:ln w="12700">
            <a:solidFill>
              <a:srgbClr val="3A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800" b="1">
                <a:solidFill>
                  <a:srgbClr val="1F242A"/>
                </a:solidFill>
                <a:latin typeface="Aptos"/>
              </a:rPr>
              <a:t>Row 10
feature sum</a:t>
            </a:r>
          </a:p>
        </p:txBody>
      </p:sp>
      <p:sp>
        <p:nvSpPr>
          <p:cNvPr id="8" name="Rectangle 7"/>
          <p:cNvSpPr/>
          <p:nvPr/>
        </p:nvSpPr>
        <p:spPr>
          <a:xfrm>
            <a:off x="3749039" y="3154680"/>
            <a:ext cx="2423160" cy="1417320"/>
          </a:xfrm>
          <a:prstGeom prst="rect">
            <a:avLst/>
          </a:prstGeom>
          <a:solidFill>
            <a:srgbClr val="FAEEDD"/>
          </a:solidFill>
          <a:ln w="12700">
            <a:solidFill>
              <a:srgbClr val="D38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800" b="1">
                <a:solidFill>
                  <a:srgbClr val="1F242A"/>
                </a:solidFill>
                <a:latin typeface="Aptos"/>
              </a:rPr>
              <a:t>Row 10
count = 3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355080" y="3858768"/>
            <a:ext cx="640080" cy="0"/>
          </a:xfrm>
          <a:prstGeom prst="line">
            <a:avLst/>
          </a:prstGeom>
          <a:ln w="25400">
            <a:solidFill>
              <a:srgbClr val="5B63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7223760" y="3154680"/>
            <a:ext cx="3337560" cy="1417320"/>
          </a:xfrm>
          <a:prstGeom prst="rect">
            <a:avLst/>
          </a:prstGeom>
          <a:solidFill>
            <a:srgbClr val="E5F2E7"/>
          </a:solidFill>
          <a:ln w="12700">
            <a:solidFill>
              <a:srgbClr val="4882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800" b="1">
                <a:solidFill>
                  <a:srgbClr val="1F242A"/>
                </a:solidFill>
                <a:latin typeface="Aptos"/>
              </a:rPr>
              <a:t>Final row 10
= sum / count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1064240" cy="50292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1F242A"/>
                </a:solidFill>
                <a:latin typeface="Aptos"/>
              </a:rPr>
              <a:t>3. What Happens In One 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0972800" cy="22860"/>
          </a:xfrm>
          <a:prstGeom prst="rect">
            <a:avLst/>
          </a:prstGeom>
          <a:solidFill>
            <a:srgbClr val="D6D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1874519"/>
            <a:ext cx="1481328" cy="914400"/>
          </a:xfrm>
          <a:prstGeom prst="rect">
            <a:avLst/>
          </a:prstGeom>
          <a:solidFill>
            <a:srgbClr val="E1EAF9"/>
          </a:solidFill>
          <a:ln w="12700">
            <a:solidFill>
              <a:srgbClr val="3A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400" b="1">
                <a:solidFill>
                  <a:srgbClr val="1F242A"/>
                </a:solidFill>
                <a:latin typeface="Aptos"/>
              </a:rPr>
              <a:t>3D geometry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167128" y="2331720"/>
            <a:ext cx="301752" cy="0"/>
          </a:xfrm>
          <a:prstGeom prst="line">
            <a:avLst/>
          </a:prstGeom>
          <a:ln w="22860">
            <a:solidFill>
              <a:srgbClr val="5B63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542032" y="1874519"/>
            <a:ext cx="1481328" cy="914400"/>
          </a:xfrm>
          <a:prstGeom prst="rect">
            <a:avLst/>
          </a:prstGeom>
          <a:solidFill>
            <a:srgbClr val="DEF1EF"/>
          </a:solidFill>
          <a:ln w="12700">
            <a:solidFill>
              <a:srgbClr val="1F7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400" b="1">
                <a:solidFill>
                  <a:srgbClr val="1F242A"/>
                </a:solidFill>
                <a:latin typeface="Aptos"/>
              </a:rPr>
              <a:t>PyTorch3D
render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069080" y="2331720"/>
            <a:ext cx="301752" cy="0"/>
          </a:xfrm>
          <a:prstGeom prst="line">
            <a:avLst/>
          </a:prstGeom>
          <a:ln w="22860">
            <a:solidFill>
              <a:srgbClr val="5B63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443984" y="1874519"/>
            <a:ext cx="1481328" cy="914400"/>
          </a:xfrm>
          <a:prstGeom prst="rect">
            <a:avLst/>
          </a:prstGeom>
          <a:solidFill>
            <a:srgbClr val="FAEEDD"/>
          </a:solidFill>
          <a:ln w="12700">
            <a:solidFill>
              <a:srgbClr val="D38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400" b="1">
                <a:solidFill>
                  <a:srgbClr val="1F242A"/>
                </a:solidFill>
                <a:latin typeface="Aptos"/>
              </a:rPr>
              <a:t>RGB + depth
+ normal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71032" y="2331720"/>
            <a:ext cx="301752" cy="0"/>
          </a:xfrm>
          <a:prstGeom prst="line">
            <a:avLst/>
          </a:prstGeom>
          <a:ln w="22860">
            <a:solidFill>
              <a:srgbClr val="5B63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345936" y="1874519"/>
            <a:ext cx="1481328" cy="914400"/>
          </a:xfrm>
          <a:prstGeom prst="rect">
            <a:avLst/>
          </a:prstGeom>
          <a:solidFill>
            <a:srgbClr val="ECE5F6"/>
          </a:solidFill>
          <a:ln w="12700">
            <a:solidFill>
              <a:srgbClr val="6F52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400" b="1">
                <a:solidFill>
                  <a:srgbClr val="1F242A"/>
                </a:solidFill>
                <a:latin typeface="Aptos"/>
              </a:rPr>
              <a:t>Stable Diffusion
+ ControlNet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872983" y="2331720"/>
            <a:ext cx="301753" cy="0"/>
          </a:xfrm>
          <a:prstGeom prst="line">
            <a:avLst/>
          </a:prstGeom>
          <a:ln w="22860">
            <a:solidFill>
              <a:srgbClr val="5B63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8247888" y="1874519"/>
            <a:ext cx="1481328" cy="914400"/>
          </a:xfrm>
          <a:prstGeom prst="rect">
            <a:avLst/>
          </a:prstGeom>
          <a:solidFill>
            <a:srgbClr val="E5F2E7"/>
          </a:solidFill>
          <a:ln w="12700">
            <a:solidFill>
              <a:srgbClr val="4882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400" b="1">
                <a:solidFill>
                  <a:srgbClr val="1F242A"/>
                </a:solidFill>
                <a:latin typeface="Aptos"/>
              </a:rPr>
              <a:t>UNet + DINO
features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774936" y="2331720"/>
            <a:ext cx="301752" cy="0"/>
          </a:xfrm>
          <a:prstGeom prst="line">
            <a:avLst/>
          </a:prstGeom>
          <a:ln w="22860">
            <a:solidFill>
              <a:srgbClr val="5B63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0149840" y="1874519"/>
            <a:ext cx="1481328" cy="914400"/>
          </a:xfrm>
          <a:prstGeom prst="rect">
            <a:avLst/>
          </a:prstGeom>
          <a:solidFill>
            <a:srgbClr val="F7E5E3"/>
          </a:solidFill>
          <a:ln w="12700">
            <a:solidFill>
              <a:srgbClr val="AC49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400" b="1">
                <a:solidFill>
                  <a:srgbClr val="1F242A"/>
                </a:solidFill>
                <a:latin typeface="Aptos"/>
              </a:rPr>
              <a:t>2048-D features
per visible pixel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03320"/>
            <a:ext cx="9966960" cy="41148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ctr"/>
            <a:r>
              <a:rPr sz="2200" b="1" i="0">
                <a:solidFill>
                  <a:srgbClr val="1F242A"/>
                </a:solidFill>
                <a:latin typeface="Aptos"/>
              </a:rPr>
              <a:t>Then each visible pixel descriptor is sent back to the 3D vertex/point rows it represents.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11680" y="4434840"/>
            <a:ext cx="29260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700" b="1">
                <a:solidFill>
                  <a:srgbClr val="1F242A"/>
                </a:solidFill>
                <a:latin typeface="Aptos"/>
              </a:rPr>
              <a:t>pixel descriptor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074920" y="4773168"/>
            <a:ext cx="1508760" cy="0"/>
          </a:xfrm>
          <a:prstGeom prst="line">
            <a:avLst/>
          </a:prstGeom>
          <a:ln w="25400">
            <a:solidFill>
              <a:srgbClr val="1F7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812280" y="4434840"/>
            <a:ext cx="3474720" cy="685800"/>
          </a:xfrm>
          <a:prstGeom prst="rect">
            <a:avLst/>
          </a:prstGeom>
          <a:solidFill>
            <a:srgbClr val="DEF1EF"/>
          </a:solidFill>
          <a:ln w="12700">
            <a:solidFill>
              <a:srgbClr val="1F7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700" b="1">
                <a:solidFill>
                  <a:srgbClr val="1F242A"/>
                </a:solidFill>
                <a:latin typeface="Aptos"/>
              </a:rPr>
              <a:t>add into N x 2048 table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1064240" cy="50292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1F242A"/>
                </a:solidFill>
                <a:latin typeface="Aptos"/>
              </a:rPr>
              <a:t>4. Who Makes The Maps?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0972800" cy="22860"/>
          </a:xfrm>
          <a:prstGeom prst="rect">
            <a:avLst/>
          </a:prstGeom>
          <a:solidFill>
            <a:srgbClr val="D6D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1417320"/>
            <a:ext cx="3246120" cy="3383280"/>
          </a:xfrm>
          <a:prstGeom prst="rect">
            <a:avLst/>
          </a:prstGeom>
          <a:solidFill>
            <a:srgbClr val="E1EAF9"/>
          </a:solidFill>
          <a:ln w="12700">
            <a:solidFill>
              <a:srgbClr val="3A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87552" y="1664208"/>
            <a:ext cx="2788920" cy="329184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ctr"/>
            <a:r>
              <a:rPr sz="2000" b="1" i="0">
                <a:solidFill>
                  <a:srgbClr val="3A5B9B"/>
                </a:solidFill>
                <a:latin typeface="Aptos"/>
              </a:rPr>
              <a:t>PyTorch3D Renderer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40280"/>
            <a:ext cx="2697480" cy="1645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8000"/>
              </a:lnSpc>
              <a:defRPr sz="1600">
                <a:solidFill>
                  <a:srgbClr val="1F242A"/>
                </a:solidFill>
                <a:latin typeface="Aptos"/>
              </a:defRPr>
            </a:pPr>
            <a:r>
              <a:t>Makes from the actual 3D geometry:</a:t>
            </a:r>
          </a:p>
          <a:p>
            <a:pPr>
              <a:lnSpc>
                <a:spcPct val="108000"/>
              </a:lnSpc>
              <a:defRPr sz="1600">
                <a:solidFill>
                  <a:srgbClr val="1F242A"/>
                </a:solidFill>
                <a:latin typeface="Aptos"/>
              </a:defRPr>
            </a:pPr>
            <a:r>
              <a:t>rendered image</a:t>
            </a:r>
          </a:p>
          <a:p>
            <a:pPr>
              <a:lnSpc>
                <a:spcPct val="108000"/>
              </a:lnSpc>
              <a:defRPr sz="1600">
                <a:solidFill>
                  <a:srgbClr val="1F242A"/>
                </a:solidFill>
                <a:latin typeface="Aptos"/>
              </a:defRPr>
            </a:pPr>
            <a:r>
              <a:t>depth map</a:t>
            </a:r>
          </a:p>
          <a:p>
            <a:pPr>
              <a:lnSpc>
                <a:spcPct val="108000"/>
              </a:lnSpc>
              <a:defRPr sz="1600">
                <a:solidFill>
                  <a:srgbClr val="1F242A"/>
                </a:solidFill>
                <a:latin typeface="Aptos"/>
              </a:defRPr>
            </a:pPr>
            <a:r>
              <a:t>normal 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60" y="1417320"/>
            <a:ext cx="3246120" cy="3383280"/>
          </a:xfrm>
          <a:prstGeom prst="rect">
            <a:avLst/>
          </a:prstGeom>
          <a:solidFill>
            <a:srgbClr val="ECE5F6"/>
          </a:solidFill>
          <a:ln w="12700">
            <a:solidFill>
              <a:srgbClr val="6F52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36592" y="1664208"/>
            <a:ext cx="2743200" cy="329184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ctr"/>
            <a:r>
              <a:rPr sz="2000" b="1" i="0">
                <a:solidFill>
                  <a:srgbClr val="6F5294"/>
                </a:solidFill>
                <a:latin typeface="Aptos"/>
              </a:rPr>
              <a:t>ControlNet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2240280"/>
            <a:ext cx="2651760" cy="1645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8000"/>
              </a:lnSpc>
              <a:defRPr sz="1600">
                <a:solidFill>
                  <a:srgbClr val="1F242A"/>
                </a:solidFill>
                <a:latin typeface="Aptos"/>
              </a:defRPr>
            </a:pPr>
            <a:r>
              <a:t>Uses depth/normal as structural controls.</a:t>
            </a:r>
          </a:p>
          <a:p>
            <a:pPr>
              <a:lnSpc>
                <a:spcPct val="108000"/>
              </a:lnSpc>
              <a:defRPr sz="1600">
                <a:solidFill>
                  <a:srgbClr val="1F242A"/>
                </a:solidFill>
                <a:latin typeface="Aptos"/>
              </a:defRPr>
            </a:pPr>
            <a:r>
              <a:t>It guides Stable Diffusion to respect the rendered shape.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83879" y="1417320"/>
            <a:ext cx="3246120" cy="3383280"/>
          </a:xfrm>
          <a:prstGeom prst="rect">
            <a:avLst/>
          </a:prstGeom>
          <a:solidFill>
            <a:srgbClr val="E5F2E7"/>
          </a:solidFill>
          <a:ln w="12700">
            <a:solidFill>
              <a:srgbClr val="4882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0" y="1664208"/>
            <a:ext cx="2788920" cy="329184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ctr"/>
            <a:r>
              <a:rPr sz="2000" b="1" i="0">
                <a:solidFill>
                  <a:srgbClr val="488251"/>
                </a:solidFill>
                <a:latin typeface="Aptos"/>
              </a:rPr>
              <a:t>Stable Diffusion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40280"/>
            <a:ext cx="2651760" cy="1645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8000"/>
              </a:lnSpc>
              <a:defRPr sz="1600">
                <a:solidFill>
                  <a:srgbClr val="1F242A"/>
                </a:solidFill>
                <a:latin typeface="Aptos"/>
              </a:defRPr>
            </a:pPr>
            <a:r>
              <a:t>Uses prompt + controls.</a:t>
            </a:r>
          </a:p>
          <a:p>
            <a:pPr>
              <a:lnSpc>
                <a:spcPct val="108000"/>
              </a:lnSpc>
              <a:defRPr sz="1600">
                <a:solidFill>
                  <a:srgbClr val="1F242A"/>
                </a:solidFill>
                <a:latin typeface="Aptos"/>
              </a:defRPr>
            </a:pPr>
            <a:r>
              <a:t>Produces AI image and internal UNet feature maps.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6073073" cy="498598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/>
            <a:r>
              <a:rPr sz="3000" b="1" i="0" dirty="0">
                <a:solidFill>
                  <a:srgbClr val="1F242A"/>
                </a:solidFill>
                <a:latin typeface="Aptos"/>
              </a:rPr>
              <a:t>5. ControlNet </a:t>
            </a:r>
            <a:r>
              <a:rPr lang="es-ES" sz="3000" b="1" i="0" dirty="0">
                <a:solidFill>
                  <a:srgbClr val="1F242A"/>
                </a:solidFill>
                <a:latin typeface="Aptos"/>
              </a:rPr>
              <a:t>and </a:t>
            </a:r>
            <a:r>
              <a:rPr sz="3000" b="1" i="0" dirty="0">
                <a:solidFill>
                  <a:srgbClr val="1F242A"/>
                </a:solidFill>
                <a:latin typeface="Aptos"/>
              </a:rPr>
              <a:t>Stable Diffusion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0972800" cy="22860"/>
          </a:xfrm>
          <a:prstGeom prst="rect">
            <a:avLst/>
          </a:prstGeom>
          <a:solidFill>
            <a:srgbClr val="D6D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3840480" cy="32004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/>
            <a:r>
              <a:rPr sz="2100" b="1" i="0">
                <a:solidFill>
                  <a:srgbClr val="1F242A"/>
                </a:solidFill>
                <a:latin typeface="Aptos"/>
              </a:rPr>
              <a:t>Stable Diffusion alone: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965960"/>
            <a:ext cx="2011680" cy="594360"/>
          </a:xfrm>
          <a:prstGeom prst="rect">
            <a:avLst/>
          </a:prstGeom>
          <a:solidFill>
            <a:srgbClr val="FAEEDD"/>
          </a:solidFill>
          <a:ln w="12700">
            <a:solidFill>
              <a:srgbClr val="D38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800" b="1">
                <a:solidFill>
                  <a:srgbClr val="1F242A"/>
                </a:solidFill>
                <a:latin typeface="Aptos"/>
              </a:rPr>
              <a:t>prompt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46120" y="2267712"/>
            <a:ext cx="914400" cy="0"/>
          </a:xfrm>
          <a:prstGeom prst="line">
            <a:avLst/>
          </a:prstGeom>
          <a:ln w="25400">
            <a:solidFill>
              <a:srgbClr val="5B63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343400" y="1965960"/>
            <a:ext cx="2560320" cy="594360"/>
          </a:xfrm>
          <a:prstGeom prst="rect">
            <a:avLst/>
          </a:prstGeom>
          <a:solidFill>
            <a:srgbClr val="E5F2E7"/>
          </a:solidFill>
          <a:ln w="12700">
            <a:solidFill>
              <a:srgbClr val="4882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800" b="1">
                <a:solidFill>
                  <a:srgbClr val="1F242A"/>
                </a:solidFill>
                <a:latin typeface="Aptos"/>
              </a:rPr>
              <a:t>generated image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46120"/>
            <a:ext cx="3840480" cy="32004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/>
            <a:r>
              <a:rPr sz="2100" b="1" i="0">
                <a:solidFill>
                  <a:srgbClr val="1F242A"/>
                </a:solidFill>
                <a:latin typeface="Aptos"/>
              </a:rPr>
              <a:t>With ControlNet: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3749039"/>
            <a:ext cx="2011680" cy="594360"/>
          </a:xfrm>
          <a:prstGeom prst="rect">
            <a:avLst/>
          </a:prstGeom>
          <a:solidFill>
            <a:srgbClr val="FAEEDD"/>
          </a:solidFill>
          <a:ln w="12700">
            <a:solidFill>
              <a:srgbClr val="D38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800" b="1">
                <a:solidFill>
                  <a:srgbClr val="1F242A"/>
                </a:solidFill>
                <a:latin typeface="Aptos"/>
              </a:rPr>
              <a:t>prompt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4572000"/>
            <a:ext cx="2011680" cy="594360"/>
          </a:xfrm>
          <a:prstGeom prst="rect">
            <a:avLst/>
          </a:prstGeom>
          <a:solidFill>
            <a:srgbClr val="E1EAF9"/>
          </a:solidFill>
          <a:ln w="12700">
            <a:solidFill>
              <a:srgbClr val="3A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800" b="1">
                <a:solidFill>
                  <a:srgbClr val="1F242A"/>
                </a:solidFill>
                <a:latin typeface="Aptos"/>
              </a:rPr>
              <a:t>depth/normal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46120" y="4160520"/>
            <a:ext cx="914400" cy="0"/>
          </a:xfrm>
          <a:prstGeom prst="line">
            <a:avLst/>
          </a:prstGeom>
          <a:ln w="25400">
            <a:solidFill>
              <a:srgbClr val="5B63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4343400" y="3840480"/>
            <a:ext cx="2560320" cy="1005840"/>
          </a:xfrm>
          <a:prstGeom prst="rect">
            <a:avLst/>
          </a:prstGeom>
          <a:solidFill>
            <a:srgbClr val="ECE5F6"/>
          </a:solidFill>
          <a:ln w="12700">
            <a:solidFill>
              <a:srgbClr val="6F52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600" b="1">
                <a:solidFill>
                  <a:srgbClr val="1F242A"/>
                </a:solidFill>
                <a:latin typeface="Aptos"/>
              </a:rPr>
              <a:t>Stable Diffusion
+ ControlNet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86600" y="4343400"/>
            <a:ext cx="914400" cy="0"/>
          </a:xfrm>
          <a:prstGeom prst="line">
            <a:avLst/>
          </a:prstGeom>
          <a:ln w="25400">
            <a:solidFill>
              <a:srgbClr val="5B63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183879" y="3840480"/>
            <a:ext cx="2788920" cy="1005840"/>
          </a:xfrm>
          <a:prstGeom prst="rect">
            <a:avLst/>
          </a:prstGeom>
          <a:solidFill>
            <a:srgbClr val="E5F2E7"/>
          </a:solidFill>
          <a:ln w="12700">
            <a:solidFill>
              <a:srgbClr val="4882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600" b="1">
                <a:solidFill>
                  <a:srgbClr val="1F242A"/>
                </a:solidFill>
                <a:latin typeface="Aptos"/>
              </a:rPr>
              <a:t>image/features that
respect geometry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1325880"/>
            <a:ext cx="3794760" cy="1463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8000"/>
              </a:lnSpc>
              <a:defRPr sz="1700">
                <a:solidFill>
                  <a:srgbClr val="1F242A"/>
                </a:solidFill>
                <a:latin typeface="Aptos"/>
              </a:defRPr>
            </a:pPr>
            <a:r>
              <a:t>ControlNet is the structure guide.</a:t>
            </a:r>
          </a:p>
          <a:p>
            <a:pPr>
              <a:lnSpc>
                <a:spcPct val="108000"/>
              </a:lnSpc>
              <a:defRPr sz="1700">
                <a:solidFill>
                  <a:srgbClr val="1F242A"/>
                </a:solidFill>
                <a:latin typeface="Aptos"/>
              </a:defRPr>
            </a:pPr>
            <a:r>
              <a:t>Stable Diffusion is the image model.</a:t>
            </a:r>
          </a:p>
          <a:p>
            <a:pPr>
              <a:lnSpc>
                <a:spcPct val="108000"/>
              </a:lnSpc>
              <a:defRPr sz="1700">
                <a:solidFill>
                  <a:srgbClr val="1F242A"/>
                </a:solidFill>
                <a:latin typeface="Aptos"/>
              </a:defRPr>
            </a:pPr>
            <a:r>
              <a:t>The prompt gives semantic meaning: insect, cricket, body, antennae, legs.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1064240" cy="50292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1F242A"/>
                </a:solidFill>
                <a:latin typeface="Aptos"/>
              </a:rPr>
              <a:t>6. How One Pixel Becomes 2048 Numbers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0972800" cy="22860"/>
          </a:xfrm>
          <a:prstGeom prst="rect">
            <a:avLst/>
          </a:prstGeom>
          <a:solidFill>
            <a:srgbClr val="D6D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14400" y="1508760"/>
            <a:ext cx="4480560" cy="1005840"/>
          </a:xfrm>
          <a:prstGeom prst="rect">
            <a:avLst/>
          </a:prstGeom>
          <a:solidFill>
            <a:srgbClr val="ECE5F6"/>
          </a:solidFill>
          <a:ln w="12700">
            <a:solidFill>
              <a:srgbClr val="6F52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900" b="1">
                <a:solidFill>
                  <a:srgbClr val="1F242A"/>
                </a:solidFill>
                <a:latin typeface="Aptos"/>
              </a:rPr>
              <a:t>Stable Diffusion UNet feature
1280 dimensions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880360"/>
            <a:ext cx="3291840" cy="1005840"/>
          </a:xfrm>
          <a:prstGeom prst="rect">
            <a:avLst/>
          </a:prstGeom>
          <a:solidFill>
            <a:srgbClr val="E5F2E7"/>
          </a:solidFill>
          <a:ln w="12700">
            <a:solidFill>
              <a:srgbClr val="4882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900" b="1">
                <a:solidFill>
                  <a:srgbClr val="1F242A"/>
                </a:solidFill>
                <a:latin typeface="Aptos"/>
              </a:rPr>
              <a:t>DINOv2 feature
768 dimensions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23560" y="2011680"/>
            <a:ext cx="1097280" cy="640080"/>
          </a:xfrm>
          <a:prstGeom prst="line">
            <a:avLst/>
          </a:prstGeom>
          <a:ln w="25400">
            <a:solidFill>
              <a:srgbClr val="5B63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4434840" y="2880360"/>
            <a:ext cx="2286000" cy="502920"/>
          </a:xfrm>
          <a:prstGeom prst="line">
            <a:avLst/>
          </a:prstGeom>
          <a:ln w="25400">
            <a:solidFill>
              <a:srgbClr val="5B63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995160" y="2148840"/>
            <a:ext cx="3931920" cy="1143000"/>
          </a:xfrm>
          <a:prstGeom prst="rect">
            <a:avLst/>
          </a:prstGeom>
          <a:solidFill>
            <a:srgbClr val="DEF1EF"/>
          </a:solidFill>
          <a:ln w="12700">
            <a:solidFill>
              <a:srgbClr val="1F7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2200" b="1">
                <a:solidFill>
                  <a:srgbClr val="1F242A"/>
                </a:solidFill>
                <a:latin typeface="Aptos"/>
              </a:rPr>
              <a:t>concatenate
1280 + 768 = 2048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4480560"/>
            <a:ext cx="8503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09728" bIns="73152" rtlCol="0" anchor="ctr"/>
          <a:lstStyle/>
          <a:p>
            <a:pPr algn="ctr"/>
            <a:r>
              <a:rPr sz="1500">
                <a:solidFill>
                  <a:srgbClr val="1F242A"/>
                </a:solidFill>
                <a:latin typeface="Consolas"/>
              </a:rPr>
              <a:t>aligned_features = hstack([
    diffusion_features * 0.5,
    dino_features * 0.5,
])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1064240" cy="50292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1F242A"/>
                </a:solidFill>
                <a:latin typeface="Aptos"/>
              </a:rPr>
              <a:t>7. Mesh Case: Pixels Map To Nearby Vertices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0972800" cy="22860"/>
          </a:xfrm>
          <a:prstGeom prst="rect">
            <a:avLst/>
          </a:prstGeom>
          <a:solidFill>
            <a:srgbClr val="D6D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22960" y="1417320"/>
            <a:ext cx="2194560" cy="731520"/>
          </a:xfrm>
          <a:prstGeom prst="rect">
            <a:avLst/>
          </a:prstGeom>
          <a:solidFill>
            <a:srgbClr val="E1EAF9"/>
          </a:solidFill>
          <a:ln w="12700">
            <a:solidFill>
              <a:srgbClr val="3A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700" b="1">
                <a:solidFill>
                  <a:srgbClr val="1F242A"/>
                </a:solidFill>
                <a:latin typeface="Aptos"/>
              </a:rPr>
              <a:t>visible pixel
+ depth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154680" y="1783080"/>
            <a:ext cx="822959" cy="0"/>
          </a:xfrm>
          <a:prstGeom prst="line">
            <a:avLst/>
          </a:prstGeom>
          <a:ln w="25400">
            <a:solidFill>
              <a:srgbClr val="5B63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160520" y="1417320"/>
            <a:ext cx="2331720" cy="731520"/>
          </a:xfrm>
          <a:prstGeom prst="rect">
            <a:avLst/>
          </a:prstGeom>
          <a:solidFill>
            <a:srgbClr val="DEF1EF"/>
          </a:solidFill>
          <a:ln w="12700">
            <a:solidFill>
              <a:srgbClr val="1F7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700" b="1">
                <a:solidFill>
                  <a:srgbClr val="1F242A"/>
                </a:solidFill>
                <a:latin typeface="Aptos"/>
              </a:rPr>
              <a:t>unproject to
3D surface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629400" y="1783080"/>
            <a:ext cx="822960" cy="0"/>
          </a:xfrm>
          <a:prstGeom prst="line">
            <a:avLst/>
          </a:prstGeom>
          <a:ln w="25400">
            <a:solidFill>
              <a:srgbClr val="5B63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7635240" y="1417320"/>
            <a:ext cx="2788920" cy="731520"/>
          </a:xfrm>
          <a:prstGeom prst="rect">
            <a:avLst/>
          </a:prstGeom>
          <a:solidFill>
            <a:srgbClr val="FAEEDD"/>
          </a:solidFill>
          <a:ln w="12700">
            <a:solidFill>
              <a:srgbClr val="D38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700" b="1">
                <a:solidFill>
                  <a:srgbClr val="1F242A"/>
                </a:solidFill>
                <a:latin typeface="Aptos"/>
              </a:rPr>
              <a:t>ball query
nearby vertices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280160" y="3063240"/>
            <a:ext cx="3749039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828800" y="4069080"/>
            <a:ext cx="146304" cy="146304"/>
          </a:xfrm>
          <a:prstGeom prst="ellipse">
            <a:avLst/>
          </a:prstGeom>
          <a:solidFill>
            <a:srgbClr val="3A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468880" y="3611880"/>
            <a:ext cx="146304" cy="146304"/>
          </a:xfrm>
          <a:prstGeom prst="ellipse">
            <a:avLst/>
          </a:prstGeom>
          <a:solidFill>
            <a:srgbClr val="3A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063240" y="4160520"/>
            <a:ext cx="146304" cy="146304"/>
          </a:xfrm>
          <a:prstGeom prst="ellipse">
            <a:avLst/>
          </a:prstGeom>
          <a:solidFill>
            <a:srgbClr val="3A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749039" y="3520440"/>
            <a:ext cx="146304" cy="146304"/>
          </a:xfrm>
          <a:prstGeom prst="ellipse">
            <a:avLst/>
          </a:prstGeom>
          <a:solidFill>
            <a:srgbClr val="3A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343400" y="4114800"/>
            <a:ext cx="146304" cy="146304"/>
          </a:xfrm>
          <a:prstGeom prst="ellipse">
            <a:avLst/>
          </a:prstGeom>
          <a:solidFill>
            <a:srgbClr val="3A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063240" y="3886200"/>
            <a:ext cx="219456" cy="219456"/>
          </a:xfrm>
          <a:prstGeom prst="ellipse">
            <a:avLst/>
          </a:prstGeom>
          <a:solidFill>
            <a:srgbClr val="D38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572768" y="4754880"/>
            <a:ext cx="3108960" cy="201168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ctr"/>
            <a:r>
              <a:rPr sz="1200" b="0" i="0">
                <a:solidFill>
                  <a:srgbClr val="5B636C"/>
                </a:solidFill>
                <a:latin typeface="Aptos"/>
              </a:rPr>
              <a:t>surface point from one pixel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257800" y="4023360"/>
            <a:ext cx="914400" cy="0"/>
          </a:xfrm>
          <a:prstGeom prst="line">
            <a:avLst/>
          </a:prstGeom>
          <a:ln w="25400">
            <a:solidFill>
              <a:srgbClr val="1F7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446520" y="3337560"/>
            <a:ext cx="4160520" cy="1371600"/>
          </a:xfrm>
          <a:prstGeom prst="rect">
            <a:avLst/>
          </a:prstGeom>
          <a:solidFill>
            <a:srgbClr val="F7E5E3"/>
          </a:solidFill>
          <a:ln w="12700">
            <a:solidFill>
              <a:srgbClr val="AC49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700" b="1">
                <a:solidFill>
                  <a:srgbClr val="1F242A"/>
                </a:solidFill>
                <a:latin typeface="Aptos"/>
              </a:rPr>
              <a:t>Add the same pixel feature
to every matched vertex row.
count[row] += 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1064240" cy="50292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1F242A"/>
                </a:solidFill>
                <a:latin typeface="Aptos"/>
              </a:rPr>
              <a:t>8. Point Cloud Case: Pixels Contain Point Indices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0972800" cy="22860"/>
          </a:xfrm>
          <a:prstGeom prst="rect">
            <a:avLst/>
          </a:prstGeom>
          <a:solidFill>
            <a:srgbClr val="D6D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68680" y="1417320"/>
            <a:ext cx="2834640" cy="868680"/>
          </a:xfrm>
          <a:prstGeom prst="rect">
            <a:avLst/>
          </a:prstGeom>
          <a:solidFill>
            <a:srgbClr val="E1EAF9"/>
          </a:solidFill>
          <a:ln w="12700">
            <a:solidFill>
              <a:srgbClr val="3A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900" b="1">
                <a:solidFill>
                  <a:srgbClr val="1F242A"/>
                </a:solidFill>
                <a:latin typeface="Aptos"/>
              </a:rPr>
              <a:t>point-cloud rasterizer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886200" y="1847088"/>
            <a:ext cx="868680" cy="0"/>
          </a:xfrm>
          <a:prstGeom prst="line">
            <a:avLst/>
          </a:prstGeom>
          <a:ln w="25400">
            <a:solidFill>
              <a:srgbClr val="5B63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937760" y="1417320"/>
            <a:ext cx="2697480" cy="868680"/>
          </a:xfrm>
          <a:prstGeom prst="rect">
            <a:avLst/>
          </a:prstGeom>
          <a:solidFill>
            <a:srgbClr val="DEF1EF"/>
          </a:solidFill>
          <a:ln w="12700">
            <a:solidFill>
              <a:srgbClr val="1F7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800" b="1">
                <a:solidFill>
                  <a:srgbClr val="1F242A"/>
                </a:solidFill>
                <a:latin typeface="Aptos"/>
              </a:rPr>
              <a:t>point_indices
image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818120" y="1847088"/>
            <a:ext cx="868680" cy="0"/>
          </a:xfrm>
          <a:prstGeom prst="line">
            <a:avLst/>
          </a:prstGeom>
          <a:ln w="25400">
            <a:solidFill>
              <a:srgbClr val="5B63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8869680" y="1417320"/>
            <a:ext cx="2331720" cy="868680"/>
          </a:xfrm>
          <a:prstGeom prst="rect">
            <a:avLst/>
          </a:prstGeom>
          <a:solidFill>
            <a:srgbClr val="E5F2E7"/>
          </a:solidFill>
          <a:ln w="12700">
            <a:solidFill>
              <a:srgbClr val="4882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800" b="1">
                <a:solidFill>
                  <a:srgbClr val="1F242A"/>
                </a:solidFill>
                <a:latin typeface="Aptos"/>
              </a:rPr>
              <a:t>original
point row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3063240"/>
            <a:ext cx="47548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09728" bIns="73152" rtlCol="0" anchor="ctr"/>
          <a:lstStyle/>
          <a:p>
            <a:pPr algn="ctr"/>
            <a:r>
              <a:rPr sz="1600">
                <a:solidFill>
                  <a:srgbClr val="1F242A"/>
                </a:solidFill>
                <a:latin typeface="Consolas"/>
              </a:rPr>
              <a:t>ft_per_point[point_id] += pixel_feature
ft_per_point_count[point_id] +=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834640"/>
            <a:ext cx="4480560" cy="1600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8000"/>
              </a:lnSpc>
              <a:defRPr sz="1700">
                <a:solidFill>
                  <a:srgbClr val="1F242A"/>
                </a:solidFill>
                <a:latin typeface="Aptos"/>
              </a:defRPr>
            </a:pPr>
            <a:r>
              <a:t>Default: `--points-per-pixel 1`</a:t>
            </a:r>
          </a:p>
          <a:p>
            <a:pPr>
              <a:lnSpc>
                <a:spcPct val="108000"/>
              </a:lnSpc>
              <a:defRPr sz="1700">
                <a:solidFill>
                  <a:srgbClr val="1F242A"/>
                </a:solidFill>
                <a:latin typeface="Aptos"/>
              </a:defRPr>
            </a:pPr>
            <a:r>
              <a:t>Each pixel stores the closest visible point.</a:t>
            </a:r>
          </a:p>
          <a:p>
            <a:pPr>
              <a:lnSpc>
                <a:spcPct val="108000"/>
              </a:lnSpc>
              <a:defRPr sz="1700">
                <a:solidFill>
                  <a:srgbClr val="1F242A"/>
                </a:solidFill>
                <a:latin typeface="Aptos"/>
              </a:defRPr>
            </a:pPr>
            <a:r>
              <a:t>If points-per-pixel is larger, several points can receive the pixel feature.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88920" y="4800600"/>
            <a:ext cx="6629400" cy="566928"/>
          </a:xfrm>
          <a:prstGeom prst="rect">
            <a:avLst/>
          </a:prstGeom>
          <a:solidFill>
            <a:srgbClr val="DEF1EF"/>
          </a:solidFill>
          <a:ln w="12700">
            <a:solidFill>
              <a:srgbClr val="1F7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800" b="1">
                <a:solidFill>
                  <a:srgbClr val="1F242A"/>
                </a:solidFill>
                <a:latin typeface="Aptos"/>
              </a:rPr>
              <a:t>Point cloud mapping is closer to: pixel descriptor -&gt; original point row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1064240" cy="50292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1F242A"/>
                </a:solidFill>
                <a:latin typeface="Aptos"/>
              </a:rPr>
              <a:t>9. Accumulation Across Many Views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0972800" cy="22860"/>
          </a:xfrm>
          <a:prstGeom prst="rect">
            <a:avLst/>
          </a:prstGeom>
          <a:solidFill>
            <a:srgbClr val="D6D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14400" y="1508760"/>
            <a:ext cx="1325880" cy="566928"/>
          </a:xfrm>
          <a:prstGeom prst="rect">
            <a:avLst/>
          </a:prstGeom>
          <a:solidFill>
            <a:srgbClr val="E1EAF9"/>
          </a:solidFill>
          <a:ln w="12700">
            <a:solidFill>
              <a:srgbClr val="3A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600" b="1">
                <a:solidFill>
                  <a:srgbClr val="1F242A"/>
                </a:solidFill>
                <a:latin typeface="Aptos"/>
              </a:rPr>
              <a:t>view 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331720" y="1792224"/>
            <a:ext cx="521208" cy="0"/>
          </a:xfrm>
          <a:prstGeom prst="line">
            <a:avLst/>
          </a:prstGeom>
          <a:ln w="20320">
            <a:solidFill>
              <a:srgbClr val="5B63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971800" y="1508760"/>
            <a:ext cx="1325880" cy="566928"/>
          </a:xfrm>
          <a:prstGeom prst="rect">
            <a:avLst/>
          </a:prstGeom>
          <a:solidFill>
            <a:srgbClr val="DEF1EF"/>
          </a:solidFill>
          <a:ln w="12700">
            <a:solidFill>
              <a:srgbClr val="1F7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600" b="1">
                <a:solidFill>
                  <a:srgbClr val="1F242A"/>
                </a:solidFill>
                <a:latin typeface="Aptos"/>
              </a:rPr>
              <a:t>view 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389120" y="1792224"/>
            <a:ext cx="521208" cy="0"/>
          </a:xfrm>
          <a:prstGeom prst="line">
            <a:avLst/>
          </a:prstGeom>
          <a:ln w="20320">
            <a:solidFill>
              <a:srgbClr val="5B63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029200" y="1508760"/>
            <a:ext cx="1325880" cy="566928"/>
          </a:xfrm>
          <a:prstGeom prst="rect">
            <a:avLst/>
          </a:prstGeom>
          <a:solidFill>
            <a:srgbClr val="E1EAF9"/>
          </a:solidFill>
          <a:ln w="12700">
            <a:solidFill>
              <a:srgbClr val="3A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600" b="1">
                <a:solidFill>
                  <a:srgbClr val="1F242A"/>
                </a:solidFill>
                <a:latin typeface="Aptos"/>
              </a:rPr>
              <a:t>view 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46520" y="1792224"/>
            <a:ext cx="521208" cy="0"/>
          </a:xfrm>
          <a:prstGeom prst="line">
            <a:avLst/>
          </a:prstGeom>
          <a:ln w="20320">
            <a:solidFill>
              <a:srgbClr val="5B63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7086600" y="1508760"/>
            <a:ext cx="1325880" cy="566928"/>
          </a:xfrm>
          <a:prstGeom prst="rect">
            <a:avLst/>
          </a:prstGeom>
          <a:solidFill>
            <a:srgbClr val="DEF1EF"/>
          </a:solidFill>
          <a:ln w="12700">
            <a:solidFill>
              <a:srgbClr val="1F7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600" b="1">
                <a:solidFill>
                  <a:srgbClr val="1F242A"/>
                </a:solidFill>
                <a:latin typeface="Aptos"/>
              </a:rPr>
              <a:t>view 3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503920" y="1792224"/>
            <a:ext cx="521208" cy="0"/>
          </a:xfrm>
          <a:prstGeom prst="line">
            <a:avLst/>
          </a:prstGeom>
          <a:ln w="20320">
            <a:solidFill>
              <a:srgbClr val="5B63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9144000" y="1508760"/>
            <a:ext cx="1325880" cy="566928"/>
          </a:xfrm>
          <a:prstGeom prst="rect">
            <a:avLst/>
          </a:prstGeom>
          <a:solidFill>
            <a:srgbClr val="E1EAF9"/>
          </a:solidFill>
          <a:ln w="12700">
            <a:solidFill>
              <a:srgbClr val="3A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600" b="1">
                <a:solidFill>
                  <a:srgbClr val="1F242A"/>
                </a:solidFill>
                <a:latin typeface="Aptos"/>
              </a:rPr>
              <a:t>view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50592"/>
            <a:ext cx="9875520" cy="32004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/>
            <a:r>
              <a:rPr sz="2200" b="1" i="0">
                <a:solidFill>
                  <a:srgbClr val="1F242A"/>
                </a:solidFill>
                <a:latin typeface="Aptos"/>
              </a:rPr>
              <a:t>Each view adds more feature evidence to visible rows.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34440" y="3063240"/>
            <a:ext cx="1371600" cy="411480"/>
          </a:xfrm>
          <a:prstGeom prst="rect">
            <a:avLst/>
          </a:prstGeom>
          <a:solidFill>
            <a:srgbClr val="FAEEDD"/>
          </a:solidFill>
          <a:ln w="12700">
            <a:solidFill>
              <a:srgbClr val="D38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300" b="1">
                <a:solidFill>
                  <a:srgbClr val="1F242A"/>
                </a:solidFill>
                <a:latin typeface="Aptos"/>
              </a:rPr>
              <a:t>row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06040" y="3063240"/>
            <a:ext cx="2468880" cy="411480"/>
          </a:xfrm>
          <a:prstGeom prst="rect">
            <a:avLst/>
          </a:prstGeom>
          <a:solidFill>
            <a:srgbClr val="FAEEDD"/>
          </a:solidFill>
          <a:ln w="12700">
            <a:solidFill>
              <a:srgbClr val="D38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300" b="1">
                <a:solidFill>
                  <a:srgbClr val="1F242A"/>
                </a:solidFill>
                <a:latin typeface="Aptos"/>
              </a:rPr>
              <a:t>view 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74920" y="3063240"/>
            <a:ext cx="2057400" cy="411480"/>
          </a:xfrm>
          <a:prstGeom prst="rect">
            <a:avLst/>
          </a:prstGeom>
          <a:solidFill>
            <a:srgbClr val="FAEEDD"/>
          </a:solidFill>
          <a:ln w="12700">
            <a:solidFill>
              <a:srgbClr val="D38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300" b="1">
                <a:solidFill>
                  <a:srgbClr val="1F242A"/>
                </a:solidFill>
                <a:latin typeface="Aptos"/>
              </a:rPr>
              <a:t>view 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0" y="3063240"/>
            <a:ext cx="2651760" cy="411480"/>
          </a:xfrm>
          <a:prstGeom prst="rect">
            <a:avLst/>
          </a:prstGeom>
          <a:solidFill>
            <a:srgbClr val="FAEEDD"/>
          </a:solidFill>
          <a:ln w="12700">
            <a:solidFill>
              <a:srgbClr val="D38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300" b="1">
                <a:solidFill>
                  <a:srgbClr val="1F242A"/>
                </a:solidFill>
                <a:latin typeface="Aptos"/>
              </a:rPr>
              <a:t>final count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34440" y="3474720"/>
            <a:ext cx="13716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200" b="0">
                <a:solidFill>
                  <a:srgbClr val="1F242A"/>
                </a:solidFill>
                <a:latin typeface="Aptos"/>
              </a:rPr>
              <a:t>point 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06040" y="3474720"/>
            <a:ext cx="246888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200" b="0">
                <a:solidFill>
                  <a:srgbClr val="1F242A"/>
                </a:solidFill>
                <a:latin typeface="Aptos"/>
              </a:rPr>
              <a:t>seen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74920" y="3474720"/>
            <a:ext cx="20574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200" b="0">
                <a:solidFill>
                  <a:srgbClr val="1F242A"/>
                </a:solidFill>
                <a:latin typeface="Aptos"/>
              </a:rPr>
              <a:t>seen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0" y="3474720"/>
            <a:ext cx="26517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200" b="0">
                <a:solidFill>
                  <a:srgbClr val="1F242A"/>
                </a:solidFill>
                <a:latin typeface="Aptos"/>
              </a:rPr>
              <a:t>2+ assignments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34440" y="3867912"/>
            <a:ext cx="13716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200" b="0">
                <a:solidFill>
                  <a:srgbClr val="1F242A"/>
                </a:solidFill>
                <a:latin typeface="Aptos"/>
              </a:rPr>
              <a:t>point 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06040" y="3867912"/>
            <a:ext cx="246888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200" b="0">
                <a:solidFill>
                  <a:srgbClr val="1F242A"/>
                </a:solidFill>
                <a:latin typeface="Aptos"/>
              </a:rPr>
              <a:t>seen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74920" y="3867912"/>
            <a:ext cx="20574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200" b="0">
                <a:solidFill>
                  <a:srgbClr val="1F242A"/>
                </a:solidFill>
                <a:latin typeface="Aptos"/>
              </a:rPr>
              <a:t>not seen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0" y="3867912"/>
            <a:ext cx="26517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200" b="0">
                <a:solidFill>
                  <a:srgbClr val="1F242A"/>
                </a:solidFill>
                <a:latin typeface="Aptos"/>
              </a:rPr>
              <a:t>1+ assignment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34440" y="4261104"/>
            <a:ext cx="13716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200" b="0">
                <a:solidFill>
                  <a:srgbClr val="1F242A"/>
                </a:solidFill>
                <a:latin typeface="Aptos"/>
              </a:rPr>
              <a:t>point 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06040" y="4261104"/>
            <a:ext cx="246888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200" b="0">
                <a:solidFill>
                  <a:srgbClr val="1F242A"/>
                </a:solidFill>
                <a:latin typeface="Aptos"/>
              </a:rPr>
              <a:t>not seen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74920" y="4261104"/>
            <a:ext cx="20574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200" b="0">
                <a:solidFill>
                  <a:srgbClr val="1F242A"/>
                </a:solidFill>
                <a:latin typeface="Aptos"/>
              </a:rPr>
              <a:t>seen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0" y="4261104"/>
            <a:ext cx="26517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200" b="0">
                <a:solidFill>
                  <a:srgbClr val="1F242A"/>
                </a:solidFill>
                <a:latin typeface="Aptos"/>
              </a:rPr>
              <a:t>1+ assignment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34440" y="4654296"/>
            <a:ext cx="13716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200" b="0">
                <a:solidFill>
                  <a:srgbClr val="1F242A"/>
                </a:solidFill>
                <a:latin typeface="Aptos"/>
              </a:rPr>
              <a:t>point 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06040" y="4654296"/>
            <a:ext cx="246888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200" b="0">
                <a:solidFill>
                  <a:srgbClr val="1F242A"/>
                </a:solidFill>
                <a:latin typeface="Aptos"/>
              </a:rPr>
              <a:t>not seen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74920" y="4654296"/>
            <a:ext cx="20574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200" b="0">
                <a:solidFill>
                  <a:srgbClr val="1F242A"/>
                </a:solidFill>
                <a:latin typeface="Aptos"/>
              </a:rPr>
              <a:t>not seen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32320" y="4654296"/>
            <a:ext cx="2651760" cy="393192"/>
          </a:xfrm>
          <a:prstGeom prst="rect">
            <a:avLst/>
          </a:prstGeom>
          <a:solidFill>
            <a:srgbClr val="F7E5E3"/>
          </a:solidFill>
          <a:ln w="12700">
            <a:solidFill>
              <a:srgbClr val="D6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200" b="0">
                <a:solidFill>
                  <a:srgbClr val="1F242A"/>
                </a:solidFill>
                <a:latin typeface="Aptos"/>
              </a:rPr>
              <a:t>0 -&gt; fill later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1064240" cy="50292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1F242A"/>
                </a:solidFill>
                <a:latin typeface="Aptos"/>
              </a:rPr>
              <a:t>10. Averaging At The End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0972800" cy="22860"/>
          </a:xfrm>
          <a:prstGeom prst="rect">
            <a:avLst/>
          </a:prstGeom>
          <a:solidFill>
            <a:srgbClr val="D6D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51560" y="1463040"/>
            <a:ext cx="3108960" cy="1051560"/>
          </a:xfrm>
          <a:prstGeom prst="rect">
            <a:avLst/>
          </a:prstGeom>
          <a:solidFill>
            <a:srgbClr val="E1EAF9"/>
          </a:solidFill>
          <a:ln w="12700">
            <a:solidFill>
              <a:srgbClr val="3A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2000" b="1">
                <a:solidFill>
                  <a:srgbClr val="1F242A"/>
                </a:solidFill>
                <a:latin typeface="Aptos"/>
              </a:rPr>
              <a:t>feature sum
for row 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1463040"/>
            <a:ext cx="914400" cy="1051560"/>
          </a:xfrm>
          <a:prstGeom prst="rect">
            <a:avLst/>
          </a:prstGeom>
          <a:solidFill>
            <a:srgbClr val="F8F9F7"/>
          </a:solidFill>
          <a:ln w="12700">
            <a:solidFill>
              <a:srgbClr val="F8F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3400" b="1">
                <a:solidFill>
                  <a:srgbClr val="1F242A"/>
                </a:solidFill>
                <a:latin typeface="Aptos"/>
              </a:rPr>
              <a:t>/</a:t>
            </a:r>
          </a:p>
        </p:txBody>
      </p:sp>
      <p:sp>
        <p:nvSpPr>
          <p:cNvPr id="6" name="Rectangle 5"/>
          <p:cNvSpPr/>
          <p:nvPr/>
        </p:nvSpPr>
        <p:spPr>
          <a:xfrm>
            <a:off x="5897880" y="1463040"/>
            <a:ext cx="2514600" cy="1051560"/>
          </a:xfrm>
          <a:prstGeom prst="rect">
            <a:avLst/>
          </a:prstGeom>
          <a:solidFill>
            <a:srgbClr val="FAEEDD"/>
          </a:solidFill>
          <a:ln w="12700">
            <a:solidFill>
              <a:srgbClr val="D38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2000" b="1">
                <a:solidFill>
                  <a:srgbClr val="1F242A"/>
                </a:solidFill>
                <a:latin typeface="Aptos"/>
              </a:rPr>
              <a:t>count
for row 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732520" y="1993392"/>
            <a:ext cx="640080" cy="0"/>
          </a:xfrm>
          <a:prstGeom prst="line">
            <a:avLst/>
          </a:prstGeom>
          <a:ln w="25400">
            <a:solidFill>
              <a:srgbClr val="5B63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9555480" y="1463040"/>
            <a:ext cx="1737360" cy="1051560"/>
          </a:xfrm>
          <a:prstGeom prst="rect">
            <a:avLst/>
          </a:prstGeom>
          <a:solidFill>
            <a:srgbClr val="E5F2E7"/>
          </a:solidFill>
          <a:ln w="12700">
            <a:solidFill>
              <a:srgbClr val="4882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800" b="1">
                <a:solidFill>
                  <a:srgbClr val="1F242A"/>
                </a:solidFill>
                <a:latin typeface="Aptos"/>
              </a:rPr>
              <a:t>final
descriptor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1143000" y="3246120"/>
            <a:ext cx="9921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DD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09728" bIns="73152" rtlCol="0" anchor="ctr"/>
          <a:lstStyle/>
          <a:p>
            <a:pPr algn="ctr"/>
            <a:r>
              <a:rPr sz="1700">
                <a:solidFill>
                  <a:srgbClr val="1F242A"/>
                </a:solidFill>
                <a:latin typeface="Consolas"/>
              </a:rPr>
              <a:t>features[i] = sum(all descriptors assigned to row i) / count(row 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434840"/>
            <a:ext cx="8229600" cy="10972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8000"/>
              </a:lnSpc>
              <a:defRPr sz="1800">
                <a:solidFill>
                  <a:srgbClr val="1F242A"/>
                </a:solidFill>
                <a:latin typeface="Aptos"/>
              </a:defRPr>
            </a:pPr>
            <a:r>
              <a:t>After all views:</a:t>
            </a:r>
          </a:p>
          <a:p>
            <a:pPr>
              <a:lnSpc>
                <a:spcPct val="108000"/>
              </a:lnSpc>
              <a:defRPr sz="1800">
                <a:solidFill>
                  <a:srgbClr val="1F242A"/>
                </a:solidFill>
                <a:latin typeface="Aptos"/>
              </a:defRPr>
            </a:pPr>
            <a:r>
              <a:t>rows with count &gt; 0 become averages.</a:t>
            </a:r>
          </a:p>
          <a:p>
            <a:pPr>
              <a:lnSpc>
                <a:spcPct val="108000"/>
              </a:lnSpc>
              <a:defRPr sz="1800">
                <a:solidFill>
                  <a:srgbClr val="1F242A"/>
                </a:solidFill>
                <a:latin typeface="Aptos"/>
              </a:defRPr>
            </a:pPr>
            <a:r>
              <a:t>rows with count = 0 are still missing.</a:t>
            </a:r>
          </a:p>
          <a:p>
            <a:pPr>
              <a:lnSpc>
                <a:spcPct val="108000"/>
              </a:lnSpc>
              <a:defRPr sz="1800">
                <a:solidFill>
                  <a:srgbClr val="1F242A"/>
                </a:solidFill>
                <a:latin typeface="Aptos"/>
              </a:defRPr>
            </a:pPr>
            <a:r>
              <a:t>The next step fills those missing rows.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1064240" cy="50292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1F242A"/>
                </a:solidFill>
                <a:latin typeface="Aptos"/>
              </a:rPr>
              <a:t>11. Missing Rows Are Filled From Nearest Seen Rows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0972800" cy="22860"/>
          </a:xfrm>
          <a:prstGeom prst="rect">
            <a:avLst/>
          </a:prstGeom>
          <a:solidFill>
            <a:srgbClr val="D6D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14400" y="1417320"/>
            <a:ext cx="2788920" cy="749808"/>
          </a:xfrm>
          <a:prstGeom prst="rect">
            <a:avLst/>
          </a:prstGeom>
          <a:solidFill>
            <a:srgbClr val="F7E5E3"/>
          </a:solidFill>
          <a:ln w="12700">
            <a:solidFill>
              <a:srgbClr val="AC49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2000" b="1">
                <a:solidFill>
                  <a:srgbClr val="1F242A"/>
                </a:solidFill>
                <a:latin typeface="Aptos"/>
              </a:rPr>
              <a:t>count[row] = 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886200" y="1783080"/>
            <a:ext cx="731520" cy="0"/>
          </a:xfrm>
          <a:prstGeom prst="line">
            <a:avLst/>
          </a:prstGeom>
          <a:ln w="25400">
            <a:solidFill>
              <a:srgbClr val="5B63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800600" y="1417320"/>
            <a:ext cx="2788920" cy="749808"/>
          </a:xfrm>
          <a:prstGeom prst="rect">
            <a:avLst/>
          </a:prstGeom>
          <a:solidFill>
            <a:srgbClr val="FAEEDD"/>
          </a:solidFill>
          <a:ln w="12700">
            <a:solidFill>
              <a:srgbClr val="D38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800" b="1">
                <a:solidFill>
                  <a:srgbClr val="1F242A"/>
                </a:solidFill>
                <a:latin typeface="Aptos"/>
              </a:rPr>
              <a:t>find nearest
seen 3D location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72400" y="1783080"/>
            <a:ext cx="731520" cy="0"/>
          </a:xfrm>
          <a:prstGeom prst="line">
            <a:avLst/>
          </a:prstGeom>
          <a:ln w="25400">
            <a:solidFill>
              <a:srgbClr val="5B63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8686800" y="1417320"/>
            <a:ext cx="2560320" cy="749808"/>
          </a:xfrm>
          <a:prstGeom prst="rect">
            <a:avLst/>
          </a:prstGeom>
          <a:solidFill>
            <a:srgbClr val="E5F2E7"/>
          </a:solidFill>
          <a:ln w="12700">
            <a:solidFill>
              <a:srgbClr val="4882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800" b="1">
                <a:solidFill>
                  <a:srgbClr val="1F242A"/>
                </a:solidFill>
                <a:latin typeface="Aptos"/>
              </a:rPr>
              <a:t>copy its
descriptor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34640"/>
            <a:ext cx="4114800" cy="32004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/>
            <a:r>
              <a:rPr sz="2200" b="1" i="0">
                <a:solidFill>
                  <a:srgbClr val="1F242A"/>
                </a:solidFill>
                <a:latin typeface="Aptos"/>
              </a:rPr>
              <a:t>Why can rows be missing?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310128"/>
            <a:ext cx="4389120" cy="1645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8000"/>
              </a:lnSpc>
              <a:defRPr sz="1700">
                <a:solidFill>
                  <a:srgbClr val="1F242A"/>
                </a:solidFill>
                <a:latin typeface="Aptos"/>
              </a:defRPr>
            </a:pPr>
            <a:r>
              <a:t>occluded interior or backside</a:t>
            </a:r>
          </a:p>
          <a:p>
            <a:pPr>
              <a:lnSpc>
                <a:spcPct val="108000"/>
              </a:lnSpc>
              <a:defRPr sz="1700">
                <a:solidFill>
                  <a:srgbClr val="1F242A"/>
                </a:solidFill>
                <a:latin typeface="Aptos"/>
              </a:defRPr>
            </a:pPr>
            <a:r>
              <a:t>resolution too low</a:t>
            </a:r>
          </a:p>
          <a:p>
            <a:pPr>
              <a:lnSpc>
                <a:spcPct val="108000"/>
              </a:lnSpc>
              <a:defRPr sz="1700">
                <a:solidFill>
                  <a:srgbClr val="1F242A"/>
                </a:solidFill>
                <a:latin typeface="Aptos"/>
              </a:defRPr>
            </a:pPr>
            <a:r>
              <a:t>point radius too small</a:t>
            </a:r>
          </a:p>
          <a:p>
            <a:pPr>
              <a:lnSpc>
                <a:spcPct val="108000"/>
              </a:lnSpc>
              <a:defRPr sz="1700">
                <a:solidFill>
                  <a:srgbClr val="1F242A"/>
                </a:solidFill>
                <a:latin typeface="Aptos"/>
              </a:defRPr>
            </a:pPr>
            <a:r>
              <a:t>mesh tolerance too strict</a:t>
            </a:r>
          </a:p>
          <a:p>
            <a:pPr>
              <a:lnSpc>
                <a:spcPct val="108000"/>
              </a:lnSpc>
              <a:defRPr sz="1700">
                <a:solidFill>
                  <a:srgbClr val="1F242A"/>
                </a:solidFill>
                <a:latin typeface="Aptos"/>
              </a:defRPr>
            </a:pPr>
            <a:r>
              <a:t>camera views missed a region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2971800"/>
            <a:ext cx="4389120" cy="1508760"/>
          </a:xfrm>
          <a:prstGeom prst="rect">
            <a:avLst/>
          </a:prstGeom>
          <a:solidFill>
            <a:srgbClr val="F7E5E3"/>
          </a:solidFill>
          <a:ln w="12700">
            <a:solidFill>
              <a:srgbClr val="AC49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600" b="1">
                <a:solidFill>
                  <a:srgbClr val="1F242A"/>
                </a:solidFill>
                <a:latin typeface="Aptos"/>
              </a:rPr>
              <a:t>Directly observed descriptor:
supported by rendered image evidence.
Copied descriptor:
approximation from 3D proximity.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1064240" cy="50292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1F242A"/>
                </a:solidFill>
                <a:latin typeface="Aptos"/>
              </a:rPr>
              <a:t>12. Tiny Example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0972800" cy="22860"/>
          </a:xfrm>
          <a:prstGeom prst="rect">
            <a:avLst/>
          </a:prstGeom>
          <a:solidFill>
            <a:srgbClr val="D6D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9875520" cy="32004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/>
            <a:r>
              <a:rPr sz="2100" b="1" i="0">
                <a:solidFill>
                  <a:srgbClr val="1F242A"/>
                </a:solidFill>
                <a:latin typeface="Aptos"/>
              </a:rPr>
              <a:t>Imagine 5 points and 3-D descriptors instead of 20,000 x 2048.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965960"/>
            <a:ext cx="914400" cy="384048"/>
          </a:xfrm>
          <a:prstGeom prst="rect">
            <a:avLst/>
          </a:prstGeom>
          <a:solidFill>
            <a:srgbClr val="DEF1EF"/>
          </a:solidFill>
          <a:ln w="12700">
            <a:solidFill>
              <a:srgbClr val="1F7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250" b="1">
                <a:solidFill>
                  <a:srgbClr val="1F242A"/>
                </a:solidFill>
                <a:latin typeface="Aptos"/>
              </a:rPr>
              <a:t>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1737360" y="1965960"/>
            <a:ext cx="2011680" cy="384048"/>
          </a:xfrm>
          <a:prstGeom prst="rect">
            <a:avLst/>
          </a:prstGeom>
          <a:solidFill>
            <a:srgbClr val="DEF1EF"/>
          </a:solidFill>
          <a:ln w="12700">
            <a:solidFill>
              <a:srgbClr val="1F7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250" b="1">
                <a:solidFill>
                  <a:srgbClr val="1F242A"/>
                </a:solidFill>
                <a:latin typeface="Aptos"/>
              </a:rPr>
              <a:t>after view 0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9039" y="1965960"/>
            <a:ext cx="2011680" cy="384048"/>
          </a:xfrm>
          <a:prstGeom prst="rect">
            <a:avLst/>
          </a:prstGeom>
          <a:solidFill>
            <a:srgbClr val="DEF1EF"/>
          </a:solidFill>
          <a:ln w="12700">
            <a:solidFill>
              <a:srgbClr val="1F7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250" b="1">
                <a:solidFill>
                  <a:srgbClr val="1F242A"/>
                </a:solidFill>
                <a:latin typeface="Aptos"/>
              </a:rPr>
              <a:t>after view 1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0" y="1965960"/>
            <a:ext cx="2011680" cy="384048"/>
          </a:xfrm>
          <a:prstGeom prst="rect">
            <a:avLst/>
          </a:prstGeom>
          <a:solidFill>
            <a:srgbClr val="DEF1EF"/>
          </a:solidFill>
          <a:ln w="12700">
            <a:solidFill>
              <a:srgbClr val="1F7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250" b="1">
                <a:solidFill>
                  <a:srgbClr val="1F242A"/>
                </a:solidFill>
                <a:latin typeface="Aptos"/>
              </a:rPr>
              <a:t>count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1965960"/>
            <a:ext cx="2011680" cy="384048"/>
          </a:xfrm>
          <a:prstGeom prst="rect">
            <a:avLst/>
          </a:prstGeom>
          <a:solidFill>
            <a:srgbClr val="DEF1EF"/>
          </a:solidFill>
          <a:ln w="12700">
            <a:solidFill>
              <a:srgbClr val="1F7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250" b="1">
                <a:solidFill>
                  <a:srgbClr val="1F242A"/>
                </a:solidFill>
                <a:latin typeface="Aptos"/>
              </a:rPr>
              <a:t>average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350008"/>
            <a:ext cx="9144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150" b="0">
                <a:solidFill>
                  <a:srgbClr val="1F242A"/>
                </a:solidFill>
                <a:latin typeface="Aptos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37360" y="2350008"/>
            <a:ext cx="2011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150" b="0">
                <a:solidFill>
                  <a:srgbClr val="1F242A"/>
                </a:solidFill>
                <a:latin typeface="Aptos"/>
              </a:rPr>
              <a:t>[1,0,0]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49039" y="2350008"/>
            <a:ext cx="2011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150" b="0">
                <a:solidFill>
                  <a:srgbClr val="1F242A"/>
                </a:solidFill>
                <a:latin typeface="Aptos"/>
              </a:rPr>
              <a:t>+ [0.8,0.2,0]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2350008"/>
            <a:ext cx="2011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150" b="0">
                <a:solidFill>
                  <a:srgbClr val="1F242A"/>
                </a:solidFill>
                <a:latin typeface="Aptos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2350008"/>
            <a:ext cx="2011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150" b="0">
                <a:solidFill>
                  <a:srgbClr val="1F242A"/>
                </a:solidFill>
                <a:latin typeface="Aptos"/>
              </a:rPr>
              <a:t>[0.9,0.1,0]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2770632"/>
            <a:ext cx="9144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150" b="0">
                <a:solidFill>
                  <a:srgbClr val="1F242A"/>
                </a:solidFill>
                <a:latin typeface="Aptos"/>
              </a:rP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37360" y="2770632"/>
            <a:ext cx="2011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150" b="0">
                <a:solidFill>
                  <a:srgbClr val="1F242A"/>
                </a:solidFill>
                <a:latin typeface="Aptos"/>
              </a:rPr>
              <a:t>[0,1,0]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49039" y="2770632"/>
            <a:ext cx="2011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150" b="0">
                <a:solidFill>
                  <a:srgbClr val="1F242A"/>
                </a:solidFill>
                <a:latin typeface="Aptos"/>
              </a:rPr>
              <a:t>+ nothing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60720" y="2770632"/>
            <a:ext cx="2011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150" b="0">
                <a:solidFill>
                  <a:srgbClr val="1F242A"/>
                </a:solidFill>
                <a:latin typeface="Aptos"/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0" y="2770632"/>
            <a:ext cx="2011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150" b="0">
                <a:solidFill>
                  <a:srgbClr val="1F242A"/>
                </a:solidFill>
                <a:latin typeface="Aptos"/>
              </a:rPr>
              <a:t>[0,1,0]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3191256"/>
            <a:ext cx="9144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150" b="0">
                <a:solidFill>
                  <a:srgbClr val="1F242A"/>
                </a:solidFill>
                <a:latin typeface="Aptos"/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37360" y="3191256"/>
            <a:ext cx="2011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150" b="0">
                <a:solidFill>
                  <a:srgbClr val="1F242A"/>
                </a:solidFill>
                <a:latin typeface="Aptos"/>
              </a:rPr>
              <a:t>nothing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49039" y="3191256"/>
            <a:ext cx="2011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150" b="0">
                <a:solidFill>
                  <a:srgbClr val="1F242A"/>
                </a:solidFill>
                <a:latin typeface="Aptos"/>
              </a:rPr>
              <a:t>+ [0,1,1]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0720" y="3191256"/>
            <a:ext cx="2011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150" b="0">
                <a:solidFill>
                  <a:srgbClr val="1F242A"/>
                </a:solidFill>
                <a:latin typeface="Aptos"/>
              </a:rPr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0" y="3191256"/>
            <a:ext cx="2011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150" b="0">
                <a:solidFill>
                  <a:srgbClr val="1F242A"/>
                </a:solidFill>
                <a:latin typeface="Aptos"/>
              </a:rPr>
              <a:t>[0,1,1]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3611880"/>
            <a:ext cx="9144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150" b="0">
                <a:solidFill>
                  <a:srgbClr val="1F242A"/>
                </a:solidFill>
                <a:latin typeface="Aptos"/>
              </a:rPr>
              <a:t>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37360" y="3611880"/>
            <a:ext cx="2011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150" b="0">
                <a:solidFill>
                  <a:srgbClr val="1F242A"/>
                </a:solidFill>
                <a:latin typeface="Aptos"/>
              </a:rPr>
              <a:t>[0,0,1]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49039" y="3611880"/>
            <a:ext cx="2011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150" b="0">
                <a:solidFill>
                  <a:srgbClr val="1F242A"/>
                </a:solidFill>
                <a:latin typeface="Aptos"/>
              </a:rPr>
              <a:t>+ nothing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60720" y="3611880"/>
            <a:ext cx="2011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150" b="0">
                <a:solidFill>
                  <a:srgbClr val="1F242A"/>
                </a:solidFill>
                <a:latin typeface="Aptos"/>
              </a:rP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0" y="3611880"/>
            <a:ext cx="2011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150" b="0">
                <a:solidFill>
                  <a:srgbClr val="1F242A"/>
                </a:solidFill>
                <a:latin typeface="Aptos"/>
              </a:rPr>
              <a:t>[0,0,1]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4032504"/>
            <a:ext cx="9144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150" b="0">
                <a:solidFill>
                  <a:srgbClr val="1F242A"/>
                </a:solidFill>
                <a:latin typeface="Aptos"/>
              </a:rPr>
              <a:t>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737360" y="4032504"/>
            <a:ext cx="2011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150" b="0">
                <a:solidFill>
                  <a:srgbClr val="1F242A"/>
                </a:solidFill>
                <a:latin typeface="Aptos"/>
              </a:rPr>
              <a:t>nothing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49039" y="4032504"/>
            <a:ext cx="2011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150" b="0">
                <a:solidFill>
                  <a:srgbClr val="1F242A"/>
                </a:solidFill>
                <a:latin typeface="Aptos"/>
              </a:rPr>
              <a:t>+ nothing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60720" y="4032504"/>
            <a:ext cx="2011680" cy="420624"/>
          </a:xfrm>
          <a:prstGeom prst="rect">
            <a:avLst/>
          </a:prstGeom>
          <a:solidFill>
            <a:srgbClr val="F7E5E3"/>
          </a:solidFill>
          <a:ln w="12700">
            <a:solidFill>
              <a:srgbClr val="D6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150" b="0">
                <a:solidFill>
                  <a:srgbClr val="1F242A"/>
                </a:solidFill>
                <a:latin typeface="Aptos"/>
              </a:rPr>
              <a:t>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4032504"/>
            <a:ext cx="2011680" cy="420624"/>
          </a:xfrm>
          <a:prstGeom prst="rect">
            <a:avLst/>
          </a:prstGeom>
          <a:solidFill>
            <a:srgbClr val="F7E5E3"/>
          </a:solidFill>
          <a:ln w="12700">
            <a:solidFill>
              <a:srgbClr val="D6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150" b="0">
                <a:solidFill>
                  <a:srgbClr val="1F242A"/>
                </a:solidFill>
                <a:latin typeface="Aptos"/>
              </a:rPr>
              <a:t>copy nearest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1064240" cy="50292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1F242A"/>
                </a:solidFill>
                <a:latin typeface="Aptos"/>
              </a:rPr>
              <a:t>13. Why This Matters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0972800" cy="22860"/>
          </a:xfrm>
          <a:prstGeom prst="rect">
            <a:avLst/>
          </a:prstGeom>
          <a:solidFill>
            <a:srgbClr val="D6D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22960" y="1417320"/>
            <a:ext cx="3291840" cy="1280160"/>
          </a:xfrm>
          <a:prstGeom prst="rect">
            <a:avLst/>
          </a:prstGeom>
          <a:solidFill>
            <a:srgbClr val="DEF1EF"/>
          </a:solidFill>
          <a:ln w="12700">
            <a:solidFill>
              <a:srgbClr val="1F7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800" b="1">
                <a:solidFill>
                  <a:srgbClr val="1F242A"/>
                </a:solidFill>
                <a:latin typeface="Aptos"/>
              </a:rPr>
              <a:t>The `.pt` file is not a texture.
It is a row-by-row descriptor table.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480560" y="1417320"/>
            <a:ext cx="3291840" cy="1280160"/>
          </a:xfrm>
          <a:prstGeom prst="rect">
            <a:avLst/>
          </a:prstGeom>
          <a:solidFill>
            <a:srgbClr val="E1EAF9"/>
          </a:solidFill>
          <a:ln w="12700">
            <a:solidFill>
              <a:srgbClr val="3A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800" b="1">
                <a:solidFill>
                  <a:srgbClr val="1F242A"/>
                </a:solidFill>
                <a:latin typeface="Aptos"/>
              </a:rPr>
              <a:t>Correspondence compares
source_features[i]
to target_features[j].</a:t>
            </a:r>
          </a:p>
        </p:txBody>
      </p:sp>
      <p:sp>
        <p:nvSpPr>
          <p:cNvPr id="6" name="Rectangle 5"/>
          <p:cNvSpPr/>
          <p:nvPr/>
        </p:nvSpPr>
        <p:spPr>
          <a:xfrm>
            <a:off x="8138160" y="1417320"/>
            <a:ext cx="3291840" cy="1280160"/>
          </a:xfrm>
          <a:prstGeom prst="rect">
            <a:avLst/>
          </a:prstGeom>
          <a:solidFill>
            <a:srgbClr val="F7E5E3"/>
          </a:solidFill>
          <a:ln w="12700">
            <a:solidFill>
              <a:srgbClr val="AC49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800" b="1">
                <a:solidFill>
                  <a:srgbClr val="1F242A"/>
                </a:solidFill>
                <a:latin typeface="Aptos"/>
              </a:rPr>
              <a:t>If geometry changes,
compute a fresh `.pt`.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337560"/>
            <a:ext cx="5943600" cy="32004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/>
            <a:r>
              <a:rPr sz="2200" b="1" i="0">
                <a:solidFill>
                  <a:srgbClr val="1F242A"/>
                </a:solidFill>
                <a:latin typeface="Aptos"/>
              </a:rPr>
              <a:t>Geometry changes that break row alignment: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794760"/>
            <a:ext cx="5029200" cy="1463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8000"/>
              </a:lnSpc>
              <a:defRPr sz="1800">
                <a:solidFill>
                  <a:srgbClr val="1F242A"/>
                </a:solidFill>
                <a:latin typeface="Aptos"/>
              </a:defRPr>
            </a:pPr>
            <a:r>
              <a:t>resampling a point cloud</a:t>
            </a:r>
          </a:p>
          <a:p>
            <a:pPr>
              <a:lnSpc>
                <a:spcPct val="108000"/>
              </a:lnSpc>
              <a:defRPr sz="1800">
                <a:solidFill>
                  <a:srgbClr val="1F242A"/>
                </a:solidFill>
                <a:latin typeface="Aptos"/>
              </a:defRPr>
            </a:pPr>
            <a:r>
              <a:t>decimating a mesh</a:t>
            </a:r>
          </a:p>
          <a:p>
            <a:pPr>
              <a:lnSpc>
                <a:spcPct val="108000"/>
              </a:lnSpc>
              <a:defRPr sz="1800">
                <a:solidFill>
                  <a:srgbClr val="1F242A"/>
                </a:solidFill>
                <a:latin typeface="Aptos"/>
              </a:defRPr>
            </a:pPr>
            <a:r>
              <a:t>smoothing and re-exporting</a:t>
            </a:r>
          </a:p>
          <a:p>
            <a:pPr>
              <a:lnSpc>
                <a:spcPct val="108000"/>
              </a:lnSpc>
              <a:defRPr sz="1800">
                <a:solidFill>
                  <a:srgbClr val="1F242A"/>
                </a:solidFill>
                <a:latin typeface="Aptos"/>
              </a:defRPr>
            </a:pPr>
            <a:r>
              <a:t>changing vertex or point order</a:t>
            </a:r>
          </a:p>
          <a:p>
            <a:pPr>
              <a:lnSpc>
                <a:spcPct val="108000"/>
              </a:lnSpc>
              <a:defRPr sz="1800">
                <a:solidFill>
                  <a:srgbClr val="1F242A"/>
                </a:solidFill>
                <a:latin typeface="Aptos"/>
              </a:defRPr>
            </a:pPr>
            <a:r>
              <a:t>using a different geometry file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3657600"/>
            <a:ext cx="4800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09728" bIns="73152" rtlCol="0" anchor="ctr"/>
          <a:lstStyle/>
          <a:p>
            <a:pPr algn="ctr"/>
            <a:r>
              <a:rPr sz="1400">
                <a:solidFill>
                  <a:srgbClr val="1F242A"/>
                </a:solidFill>
                <a:latin typeface="Consolas"/>
              </a:rPr>
              <a:t>GOOD: geometry_A.obj  + geometry_A_diff3f.pt
BAD:  geometry_A_smoothed.obj + old geometry_A_diff3f.pt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1064240" cy="50292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1F242A"/>
                </a:solidFill>
                <a:latin typeface="Aptos"/>
              </a:rPr>
              <a:t>14. Final Mental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0972800" cy="22860"/>
          </a:xfrm>
          <a:prstGeom prst="rect">
            <a:avLst/>
          </a:prstGeom>
          <a:solidFill>
            <a:srgbClr val="D6D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2011680"/>
            <a:ext cx="1664208" cy="960120"/>
          </a:xfrm>
          <a:prstGeom prst="rect">
            <a:avLst/>
          </a:prstGeom>
          <a:solidFill>
            <a:srgbClr val="E1EAF9"/>
          </a:solidFill>
          <a:ln w="12700">
            <a:solidFill>
              <a:srgbClr val="3A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500" b="1">
                <a:solidFill>
                  <a:srgbClr val="1F242A"/>
                </a:solidFill>
                <a:latin typeface="Aptos"/>
              </a:rPr>
              <a:t>3D insect
geometry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14600" y="2487168"/>
            <a:ext cx="393192" cy="0"/>
          </a:xfrm>
          <a:prstGeom prst="line">
            <a:avLst/>
          </a:prstGeom>
          <a:ln w="22860">
            <a:solidFill>
              <a:srgbClr val="5B63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017520" y="2011680"/>
            <a:ext cx="1664208" cy="960120"/>
          </a:xfrm>
          <a:prstGeom prst="rect">
            <a:avLst/>
          </a:prstGeom>
          <a:solidFill>
            <a:srgbClr val="DEF1EF"/>
          </a:solidFill>
          <a:ln w="12700">
            <a:solidFill>
              <a:srgbClr val="1F7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500" b="1">
                <a:solidFill>
                  <a:srgbClr val="1F242A"/>
                </a:solidFill>
                <a:latin typeface="Aptos"/>
              </a:rPr>
              <a:t>many rendered
views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754880" y="2487168"/>
            <a:ext cx="393192" cy="0"/>
          </a:xfrm>
          <a:prstGeom prst="line">
            <a:avLst/>
          </a:prstGeom>
          <a:ln w="22860">
            <a:solidFill>
              <a:srgbClr val="5B63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57800" y="2011680"/>
            <a:ext cx="1664208" cy="960120"/>
          </a:xfrm>
          <a:prstGeom prst="rect">
            <a:avLst/>
          </a:prstGeom>
          <a:solidFill>
            <a:srgbClr val="ECE5F6"/>
          </a:solidFill>
          <a:ln w="12700">
            <a:solidFill>
              <a:srgbClr val="6F52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500" b="1">
                <a:solidFill>
                  <a:srgbClr val="1F242A"/>
                </a:solidFill>
                <a:latin typeface="Aptos"/>
              </a:rPr>
              <a:t>2D model
feature fields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995160" y="2487168"/>
            <a:ext cx="393192" cy="0"/>
          </a:xfrm>
          <a:prstGeom prst="line">
            <a:avLst/>
          </a:prstGeom>
          <a:ln w="22860">
            <a:solidFill>
              <a:srgbClr val="5B63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7498080" y="2011680"/>
            <a:ext cx="1664208" cy="960120"/>
          </a:xfrm>
          <a:prstGeom prst="rect">
            <a:avLst/>
          </a:prstGeom>
          <a:solidFill>
            <a:srgbClr val="FAEEDD"/>
          </a:solidFill>
          <a:ln w="12700">
            <a:solidFill>
              <a:srgbClr val="D38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500" b="1">
                <a:solidFill>
                  <a:srgbClr val="1F242A"/>
                </a:solidFill>
                <a:latin typeface="Aptos"/>
              </a:rPr>
              <a:t>copy/average
back to rows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235440" y="2487168"/>
            <a:ext cx="393192" cy="0"/>
          </a:xfrm>
          <a:prstGeom prst="line">
            <a:avLst/>
          </a:prstGeom>
          <a:ln w="22860">
            <a:solidFill>
              <a:srgbClr val="5B63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9738360" y="2011680"/>
            <a:ext cx="1664208" cy="960120"/>
          </a:xfrm>
          <a:prstGeom prst="rect">
            <a:avLst/>
          </a:prstGeom>
          <a:solidFill>
            <a:srgbClr val="E5F2E7"/>
          </a:solidFill>
          <a:ln w="12700">
            <a:solidFill>
              <a:srgbClr val="4882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500" b="1">
                <a:solidFill>
                  <a:srgbClr val="1F242A"/>
                </a:solidFill>
                <a:latin typeface="Aptos"/>
              </a:rPr>
              <a:t>N x 2048
`.pt` tensor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977639"/>
            <a:ext cx="1920240" cy="32004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/>
            <a:r>
              <a:rPr sz="2100" b="1" i="0">
                <a:solidFill>
                  <a:srgbClr val="1F7676"/>
                </a:solidFill>
                <a:latin typeface="Aptos"/>
              </a:rPr>
              <a:t>One sentence: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434840"/>
            <a:ext cx="10561320" cy="96026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000" b="0" i="0" dirty="0">
                <a:solidFill>
                  <a:srgbClr val="1F242A"/>
                </a:solidFill>
                <a:latin typeface="Aptos"/>
              </a:rPr>
              <a:t>Diff3F renders the 3D shape from many views, extracts 2D image-model features, maps them back to the original vertices or points, averages repeated evidence, fills missing rows, and saves one 2048-D descriptor per row.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15762</TotalTime>
  <Words>1055</Words>
  <Application>Microsoft Office PowerPoint</Application>
  <PresentationFormat>Panorámica</PresentationFormat>
  <Paragraphs>189</Paragraphs>
  <Slides>15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0" baseType="lpstr">
      <vt:lpstr>Aptos</vt:lpstr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Diff3F .pt Files Are Filled</dc:title>
  <dc:subject>BugNIST Diff3F descriptor pipeline guide</dc:subject>
  <dc:creator>Roberts / Codex</dc:creator>
  <cp:keywords/>
  <dc:description>Generated from documentation/information/HOW_DIFF3F_PT_FILES_ARE_FILLED.md</dc:description>
  <cp:lastModifiedBy>Pablo Arce</cp:lastModifiedBy>
  <cp:revision>2</cp:revision>
  <dcterms:created xsi:type="dcterms:W3CDTF">2013-01-27T09:14:16Z</dcterms:created>
  <dcterms:modified xsi:type="dcterms:W3CDTF">2026-09-04T07:54:04Z</dcterms:modified>
  <cp:category/>
</cp:coreProperties>
</file>